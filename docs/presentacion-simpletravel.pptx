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4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8689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-travel.net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77959" y="245000"/>
            <a:ext cx="2436081" cy="24360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5861" y="2681081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Sistema de Gestión de Reservas Turísticas</a:t>
            </a:r>
            <a:endParaRPr lang="en-US" sz="3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1386840" y="3869801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Plataforma digital para operadores y agencias turísticas en Latinoamérica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El desafío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Digitalizar la </a:t>
            </a:r>
            <a:r>
              <a:rPr lang="en-US" sz="2800" b="1" dirty="0" err="1">
                <a:solidFill>
                  <a:srgbClr val="1E293B"/>
                </a:solidFill>
              </a:rPr>
              <a:t>gestión</a:t>
            </a:r>
            <a:r>
              <a:rPr lang="en-US" sz="2800" b="1" dirty="0">
                <a:solidFill>
                  <a:srgbClr val="1E293B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de tu operación turística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05987"/>
            <a:ext cx="5303520" cy="794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Cómo funciona hoy tu operador o </a:t>
            </a:r>
            <a:r>
              <a:rPr lang="en-US" sz="1400" dirty="0" err="1">
                <a:solidFill>
                  <a:srgbClr val="64748B"/>
                </a:solidFill>
              </a:rPr>
              <a:t>agencia</a:t>
            </a:r>
            <a:r>
              <a:rPr lang="en-US" sz="1400" dirty="0">
                <a:solidFill>
                  <a:srgbClr val="64748B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y cómo puede transformarse con un sistema </a:t>
            </a:r>
            <a:r>
              <a:rPr lang="en-US" sz="1400" dirty="0" err="1">
                <a:solidFill>
                  <a:srgbClr val="64748B"/>
                </a:solidFill>
              </a:rPr>
              <a:t>diseñado</a:t>
            </a:r>
            <a:r>
              <a:rPr lang="en-US" sz="1400" dirty="0">
                <a:solidFill>
                  <a:srgbClr val="64748B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para operadores emisivos.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6462" y="3000496"/>
            <a:ext cx="4159547" cy="17033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Muchos operadores y agencias dependen de </a:t>
            </a:r>
            <a:r>
              <a:rPr lang="en-US" sz="1500" b="1" dirty="0">
                <a:solidFill>
                  <a:srgbClr val="1E293B"/>
                </a:solidFill>
              </a:rPr>
              <a:t>Excel,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WhatsApp y procesos dispersos</a:t>
            </a:r>
            <a:r>
              <a:rPr lang="en-US" sz="1500" dirty="0">
                <a:solidFill>
                  <a:srgbClr val="1E293B"/>
                </a:solidFill>
              </a:rPr>
              <a:t> que ponen en riesgo márgenes, tiempos de respuesta y la coordinación del equipo.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En las siguientes diapositivas verás la diferencia entre operar sin y con SimpleTravel.</a:t>
            </a:r>
            <a:endParaRPr lang="en-US" sz="1500" dirty="0"/>
          </a:p>
        </p:txBody>
      </p:sp>
      <p:pic>
        <p:nvPicPr>
          <p:cNvPr id="6" name="Image 0" descr="R:\simple-travel\public\images\comparison\1-quoting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63830" y="1033124"/>
            <a:ext cx="6931930" cy="4618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Comparación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Cotizaciones</a:t>
            </a:r>
            <a:endParaRPr lang="en-US" sz="28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 t="1854" b="1854"/>
          <a:stretch/>
        </p:blipFill>
        <p:spPr>
          <a:xfrm>
            <a:off x="3328563" y="411481"/>
            <a:ext cx="6895208" cy="442633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54005"/>
            <a:ext cx="5577840" cy="1322333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896509" y="509376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Sin Simple Travel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96509" y="5413802"/>
            <a:ext cx="5120640" cy="8647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</a:rPr>
              <a:t>Cotizaciones en Excel, múltiples versiones del mismo archivo y cálculos manuales que dependen de quien los armó. Cada modificación implica revisar fórmulas y conversiones de moneda.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5054005"/>
            <a:ext cx="5577840" cy="1322333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6702949" y="509376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</a:rPr>
              <a:t>Con Simple Travel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02949" y="5413802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4E3B"/>
                </a:solidFill>
              </a:rPr>
              <a:t>Itinerarios estructurados en minutos, con tarifas actualizadas, conversiones automáticas y márgenes definidos por regla. Cada propuesta queda guardada, versionada y lista para enviar.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Comparación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Control de márgenes</a:t>
            </a:r>
            <a:endParaRPr lang="en-US" sz="2800" dirty="0"/>
          </a:p>
        </p:txBody>
      </p:sp>
      <p:pic>
        <p:nvPicPr>
          <p:cNvPr id="4" name="Image 0" descr="R:\simple-travel\public\images\comparison\3-profi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81850" y="1554480"/>
            <a:ext cx="5197819" cy="346304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2998" y="5214998"/>
            <a:ext cx="5577840" cy="1185802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621598" y="535215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Sin Simple Travel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598" y="5672198"/>
            <a:ext cx="5120640" cy="5340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</a:rPr>
              <a:t>Decisiones comerciales tomadas "a ojo". Márgenes poco claros y diferencias cambiarias que afectan la rentabilidad sin detectarlo a tiempo.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99438" y="5214998"/>
            <a:ext cx="5577840" cy="1185802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6428038" y="535215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</a:rPr>
              <a:t>Con Simple Travel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28038" y="5672198"/>
            <a:ext cx="5120640" cy="7286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4E3B"/>
                </a:solidFill>
              </a:rPr>
              <a:t>Visualización inmediata de rentabilidad por pasajero, grupo u operación completa. Reglas de markup y control de margen mínimo antes de confirmar una venta.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Comparación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46015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</a:rPr>
              <a:t>Liquidaciones</a:t>
            </a:r>
            <a:r>
              <a:rPr lang="en-US" sz="2800" b="1" dirty="0">
                <a:solidFill>
                  <a:srgbClr val="1E293B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y pagos</a:t>
            </a:r>
            <a:endParaRPr lang="en-US" sz="2800" dirty="0"/>
          </a:p>
        </p:txBody>
      </p:sp>
      <p:pic>
        <p:nvPicPr>
          <p:cNvPr id="4" name="Image 0" descr="R:\simple-travel\public\images\comparison\4-payment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18967" y="868680"/>
            <a:ext cx="4872225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51960"/>
            <a:ext cx="5577840" cy="136090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77724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Sin Simple Travel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4709160"/>
            <a:ext cx="5120640" cy="5632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</a:rPr>
              <a:t>Señas, saldos y pagos gestionados en documentos separados. Dificultad para conciliar lo cobrado con lo que se debe pagar a cada prestador.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4251960"/>
            <a:ext cx="5577840" cy="136090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658368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</a:rPr>
              <a:t>Con Simple Travel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4709160"/>
            <a:ext cx="5120640" cy="660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4E3B"/>
                </a:solidFill>
              </a:rPr>
              <a:t>Cada reserva conecta automáticamente ingresos y obligaciones. Cuentas corrientes claras, pagos parciales registrados y trazabilidad completa en múltiples monedas.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Comparación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</a:rPr>
              <a:t>Tarifas</a:t>
            </a:r>
            <a:r>
              <a:rPr lang="en-US" sz="2800" b="1" dirty="0">
                <a:solidFill>
                  <a:srgbClr val="1E293B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y prestadores</a:t>
            </a:r>
            <a:endParaRPr lang="en-US" sz="2800" dirty="0"/>
          </a:p>
        </p:txBody>
      </p:sp>
      <p:pic>
        <p:nvPicPr>
          <p:cNvPr id="4" name="Image 0" descr="R:\simple-travel\public\images\comparison\2-pricing-provider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760851" y="822960"/>
            <a:ext cx="500947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51960"/>
            <a:ext cx="5577840" cy="1380355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77724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Sin Simple Travel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4709160"/>
            <a:ext cx="5120640" cy="68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</a:rPr>
              <a:t>Precios guardados en correos, chats o planillas aisladas. Dudas constantes sobre cuál es la tarifa vigente y riesgo de cotizar valores desactualizados.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4251960"/>
            <a:ext cx="5577840" cy="1380355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658368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</a:rPr>
              <a:t>Con Simple Travel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4709160"/>
            <a:ext cx="5120640" cy="6896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4E3B"/>
                </a:solidFill>
              </a:rPr>
              <a:t>Tus prestadores registran y actualizan sus servicios en la plataforma. Tú seleccionas, aplicas tu markup y trabajas siempre sobre información centralizada y vigente.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Comparación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</a:rPr>
              <a:t>Trabajo</a:t>
            </a:r>
            <a:r>
              <a:rPr lang="en-US" sz="2800" b="1" dirty="0">
                <a:solidFill>
                  <a:srgbClr val="1E293B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</a:rPr>
              <a:t>en</a:t>
            </a:r>
            <a:r>
              <a:rPr lang="en-US" sz="2800" b="1" dirty="0">
                <a:solidFill>
                  <a:srgbClr val="1E293B"/>
                </a:solidFill>
              </a:rPr>
              <a:t> equipo</a:t>
            </a:r>
            <a:endParaRPr lang="en-US" sz="2800" dirty="0"/>
          </a:p>
        </p:txBody>
      </p:sp>
      <p:pic>
        <p:nvPicPr>
          <p:cNvPr id="4" name="Image 0" descr="R:\simple-travel\public\images\comparison\5-teamwork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21745" y="731520"/>
            <a:ext cx="500947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51960"/>
            <a:ext cx="5577840" cy="1331717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77724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Sin Simple Travel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4709160"/>
            <a:ext cx="5120640" cy="796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</a:rPr>
              <a:t>Información dispersa en conversaciones individuales. Confirmaciones y cambios que no quedan registrados para todo el equipo.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4251960"/>
            <a:ext cx="5577840" cy="1331717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6583680" y="4389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</a:rPr>
              <a:t>Con Simple Travel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4709160"/>
            <a:ext cx="5120640" cy="796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4E3B"/>
                </a:solidFill>
              </a:rPr>
              <a:t>Vendedores, operaciones y administración trabajan sobre la misma base de datos. Estados actualizados en tiempo real y comunicación operativa centralizada.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R:\simple-travel\public\images\hero\saas1-e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80562" y="1969509"/>
            <a:ext cx="6815198" cy="409365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SimpleTravel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Infraestructura digital para operadores y agencias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Sistema moderno, fácil de usar y personalizable que centraliza tu operación comercial.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0836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Un solo lugar para cotizar, reservar, cobrar y liquidar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Multi-moneda y multi-idioma (español, portugués e inglés)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Diseñado para operadores emisivos en Latinoamérica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Reemplaza Excel, WhatsApp y procesos dispersos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Ventajas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Herramientas para una gestión simple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Centraliza tu operación en una sola plataforma. Reportes y estadísticas en tiempo real.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6692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Gestión unificada de operaciones y ventas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Relación con clientes y coordinación con prestadores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Sitio web de promoción y panel operativo: todo en uno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Múltiples monedas e idiomas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Cobranzas y pagos a prestadores integrados</a:t>
            </a:r>
            <a:endParaRPr lang="en-US" sz="1500" dirty="0"/>
          </a:p>
        </p:txBody>
      </p:sp>
      <p:pic>
        <p:nvPicPr>
          <p:cNvPr id="6" name="Image 0" descr="R:\simple-travel\public\images\hero\saas2.jp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00800" y="2100173"/>
            <a:ext cx="5394960" cy="35720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Características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Mejor gestión. Mejor rendimiento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Funcionalidades para la operación turística profesional.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15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Gestión integral para operadores y agencias LATAM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Centraliza reservas, cotizaciones, clientes, pagos y reportes en una sola plataforma estructurada.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7315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Cotizaciones ágiles y precisas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72160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Itinerarios en minutos con tarifas actualizadas, conversiones automáticas y propuestas versionadas.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7315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77724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Control total de márgenes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513892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Márgenes mínimos, markups por producto o canal y rentabilidad visible antes de confirmar.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Características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Liquidaciones e integración con prestadores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Liquidaciones claras y sin inconsistencias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59152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Cuentas corrientes de clientes y prestadores en el mismo sistema. Señas, pagos parciales y trazabilidad en múltiples monedas.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Integración con tus prestadores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913632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Invita prestadores para que actualicen servicios y tarifas. Usa su información en cotizaciones sin duplicar datos ni perder control comercial.</a:t>
            </a:r>
            <a:endParaRPr lang="en-US" sz="1200" dirty="0"/>
          </a:p>
        </p:txBody>
      </p:sp>
      <p:pic>
        <p:nvPicPr>
          <p:cNvPr id="10" name="Image 0" descr="R:\simple-travel\public\images\hero\saas3.jp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83680" y="2252156"/>
            <a:ext cx="5212080" cy="34509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Plataforma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Modular, flexible y a la medida de tu operación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SimpleTravel se adapta al tamaño y las necesidades de cada operador o agencia.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D9488"/>
                </a:solidFill>
              </a:rPr>
              <a:t>Sistema modularizado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Activás solo las capacidades que tu operación necesita hoy, sin cargar funciones que no usás.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4617720" y="2377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D9488"/>
                </a:solidFill>
              </a:rPr>
              <a:t>Flexible y escalable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9718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Crece con tu equipo y tu volumen de operaciones, sin límites artificiales ni sorpresas.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21488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8458200" y="2377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D9488"/>
                </a:solidFill>
              </a:rPr>
              <a:t>Licenciamiento claro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58200" y="29718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Modelo por usuario y/o por módulo. Sin comisiones por venta ni cargos por transacción.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93B"/>
                </a:solidFill>
              </a:rPr>
              <a:t>Pagás de acuerdo a tu necesidad real: usuarios activos y módulos contratados.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0D9488"/>
                </a:solidFill>
              </a:rPr>
              <a:t>Próximo paso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Empezá a operar con SimpleTravel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9966960" cy="3200400"/>
          </a:xfrm>
          <a:prstGeom prst="roundRect">
            <a:avLst>
              <a:gd name="adj" fmla="val 428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97280" y="24231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</a:rPr>
              <a:t>Conocé la plataforma en acción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2971799"/>
            <a:ext cx="8503920" cy="9448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A </a:t>
            </a:r>
            <a:r>
              <a:rPr lang="en-US" sz="1400" dirty="0" err="1">
                <a:solidFill>
                  <a:srgbClr val="64748B"/>
                </a:solidFill>
              </a:rPr>
              <a:t>junio</a:t>
            </a:r>
            <a:r>
              <a:rPr lang="en-US" sz="1400" dirty="0">
                <a:solidFill>
                  <a:srgbClr val="64748B"/>
                </a:solidFill>
              </a:rPr>
              <a:t> 2026 </a:t>
            </a:r>
            <a:r>
              <a:rPr lang="en-US" sz="1400" dirty="0" err="1">
                <a:solidFill>
                  <a:srgbClr val="64748B"/>
                </a:solidFill>
              </a:rPr>
              <a:t>estamos</a:t>
            </a:r>
            <a:r>
              <a:rPr lang="en-US" sz="1400" dirty="0">
                <a:solidFill>
                  <a:srgbClr val="64748B"/>
                </a:solidFill>
              </a:rPr>
              <a:t> a punto de </a:t>
            </a:r>
            <a:r>
              <a:rPr lang="en-US" sz="1400" dirty="0" err="1">
                <a:solidFill>
                  <a:srgbClr val="64748B"/>
                </a:solidFill>
              </a:rPr>
              <a:t>lanzar</a:t>
            </a:r>
            <a:r>
              <a:rPr lang="en-US" sz="1400" dirty="0">
                <a:solidFill>
                  <a:srgbClr val="64748B"/>
                </a:solidFill>
              </a:rPr>
              <a:t> un Beta.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64748B"/>
                </a:solidFill>
              </a:rPr>
              <a:t>Solicitá</a:t>
            </a:r>
            <a:r>
              <a:rPr lang="en-US" sz="1400" dirty="0">
                <a:solidFill>
                  <a:srgbClr val="64748B"/>
                </a:solidFill>
              </a:rPr>
              <a:t> un </a:t>
            </a:r>
            <a:r>
              <a:rPr lang="en-US" sz="1400" dirty="0" err="1">
                <a:solidFill>
                  <a:srgbClr val="64748B"/>
                </a:solidFill>
              </a:rPr>
              <a:t>acceso</a:t>
            </a:r>
            <a:r>
              <a:rPr lang="en-US" sz="1400" dirty="0">
                <a:solidFill>
                  <a:srgbClr val="64748B"/>
                </a:solidFill>
              </a:rPr>
              <a:t> sin cargo y descubrí cómo centralizar cotizaciones, reservas y </a:t>
            </a:r>
            <a:r>
              <a:rPr lang="en-US" sz="1400" dirty="0" err="1">
                <a:solidFill>
                  <a:srgbClr val="64748B"/>
                </a:solidFill>
              </a:rPr>
              <a:t>liquidaciones</a:t>
            </a:r>
            <a:r>
              <a:rPr lang="en-US" sz="1400" dirty="0">
                <a:solidFill>
                  <a:srgbClr val="64748B"/>
                </a:solidFill>
              </a:rPr>
              <a:t>.</a:t>
            </a:r>
          </a:p>
          <a:p>
            <a:pPr marL="0" indent="0" algn="ctr">
              <a:buNone/>
            </a:pPr>
            <a:endParaRPr lang="en-US" sz="1400" dirty="0">
              <a:solidFill>
                <a:srgbClr val="64748B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hlinkClick r:id="rId3"/>
              </a:rPr>
              <a:t>info@simple-travel.net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27760" y="40005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D9488"/>
                </a:solidFill>
              </a:rPr>
              <a:t>simple-travel.net</a:t>
            </a:r>
            <a:endParaRPr lang="en-US" dirty="0"/>
          </a:p>
        </p:txBody>
      </p:sp>
      <p:pic>
        <p:nvPicPr>
          <p:cNvPr id="8" name="Image 0" descr="R:\simple-travel\public\images\logo.pn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307405" y="4564345"/>
            <a:ext cx="5102157" cy="12954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772</Words>
  <Application>Microsoft Office PowerPoint</Application>
  <PresentationFormat>Widescreen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SimpleTravel — Presentación</dc:title>
  <dc:subject>Sistema de gestión para operadores y agencias turísticas</dc:subject>
  <dc:creator>SimpleTravel</dc:creator>
  <cp:lastModifiedBy>Gabriel Schillaci</cp:lastModifiedBy>
  <cp:revision>4</cp:revision>
  <dcterms:created xsi:type="dcterms:W3CDTF">2026-06-23T18:42:01Z</dcterms:created>
  <dcterms:modified xsi:type="dcterms:W3CDTF">2026-06-23T20:13:52Z</dcterms:modified>
</cp:coreProperties>
</file>